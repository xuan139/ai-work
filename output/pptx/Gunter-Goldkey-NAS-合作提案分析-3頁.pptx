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7ceeaa239b49c0" /><Relationship Type="http://schemas.openxmlformats.org/officeDocument/2006/relationships/extended-properties" Target="/docProps/app.xml" Id="R93f84f64f6394989" /><Relationship Type="http://schemas.openxmlformats.org/officeDocument/2006/relationships/officeDocument" Target="/ppt/presentation.xml" Id="Rbf5845b29b5d44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071f3ec7dc417d"/>
  </p:sldMasterIdLst>
  <p:notesMasterIdLst>
    <p:notesMasterId xmlns:r="http://schemas.openxmlformats.org/officeDocument/2006/relationships" r:id="R0115ddd1b9b84b7d"/>
  </p:notesMasterIdLst>
  <p:sldIdLst>
    <p:sldId xmlns:r="http://schemas.openxmlformats.org/officeDocument/2006/relationships" id="256" r:id="Rf9e7dcb121964044"/>
    <p:sldId xmlns:r="http://schemas.openxmlformats.org/officeDocument/2006/relationships" id="257" r:id="Rc8d8dea27f774c31"/>
    <p:sldId xmlns:r="http://schemas.openxmlformats.org/officeDocument/2006/relationships" id="258" r:id="R736cef89fe7543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2a41a9dbb94df5" /><Relationship Type="http://schemas.openxmlformats.org/officeDocument/2006/relationships/slideMaster" Target="/ppt/slideMasters/slideMaster1.xml" Id="R75071f3ec7dc417d" /><Relationship Type="http://schemas.openxmlformats.org/officeDocument/2006/relationships/notesMaster" Target="/ppt/notesMasters/notesMaster1.xml" Id="R0115ddd1b9b84b7d" /><Relationship Type="http://schemas.openxmlformats.org/officeDocument/2006/relationships/presProps" Target="/ppt/presProps.xml" Id="R57e659b484524645" /><Relationship Type="http://schemas.openxmlformats.org/officeDocument/2006/relationships/tableStyles" Target="/ppt/tableStyles.xml" Id="Re0af1e0a359c42b3" /><Relationship Type="http://schemas.openxmlformats.org/officeDocument/2006/relationships/slide" Target="/ppt/slides/slide1.xml" Id="Rf9e7dcb121964044" /><Relationship Type="http://schemas.openxmlformats.org/officeDocument/2006/relationships/slide" Target="/ppt/slides/slide2.xml" Id="Rc8d8dea27f774c31" /><Relationship Type="http://schemas.openxmlformats.org/officeDocument/2006/relationships/slide" Target="/ppt/slides/slide3.xml" Id="R736cef89fe7543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82ea8039b642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4a8965d8974246" /><Relationship Type="http://schemas.openxmlformats.org/officeDocument/2006/relationships/notesMaster" Target="/ppt/notesMasters/notesMaster1.xml" Id="R22138d698de94a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3cddd55e8b4fdd" /><Relationship Type="http://schemas.openxmlformats.org/officeDocument/2006/relationships/notesMaster" Target="/ppt/notesMasters/notesMaster1.xml" Id="Rfd11c1cc9b014d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d64adb4c344eb5" /><Relationship Type="http://schemas.openxmlformats.org/officeDocument/2006/relationships/notesMaster" Target="/ppt/notesMasters/notesMaster1.xml" Id="R1d7f9f26de4845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問題依據原提案第 6 至 8、13 至 16 頁整理。第 6 與第 7 頁對 Docker／Virtual Machine 的範圍描述不一致。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責任模型依据原提案第 13 至 15 页重新整理。原文件对 BSP／Driver 的主责描述重叠，本页将取得与硬件问题归硬件方，Linux Image 整合归软件方。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风险根据原提案第 8、14 至 16 页整理。第 14 页也提出 4 至 8 人团队能否持续支援 Product Release 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88a49d9dc48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39bf726cf94c4b" /><Relationship Type="http://schemas.openxmlformats.org/officeDocument/2006/relationships/slideLayout" Target="/ppt/slideLayouts/slideLayout1.xml" Id="Ra06bc9a6b90242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6bc9a6b90242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1861b034a44f2" /><Relationship Type="http://schemas.openxmlformats.org/officeDocument/2006/relationships/notesSlide" Target="/ppt/notesSlides/notesSlide1.xml" Id="R245f36de3e5246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ad2d498a64132" /><Relationship Type="http://schemas.openxmlformats.org/officeDocument/2006/relationships/notesSlide" Target="/ppt/notesSlides/notesSlide2.xml" Id="R3f9474a02f3148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5aa5116004aa5" /><Relationship Type="http://schemas.openxmlformats.org/officeDocument/2006/relationships/image" Target="/ppt/media/image.png" Id="Rc40d420edeae4be6" /><Relationship Type="http://schemas.openxmlformats.org/officeDocument/2006/relationships/notesSlide" Target="/ppt/notesSlides/notesSlide3.xml" Id="R3285550df70e4e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D94ED6-AAB3-4B4F-B83B-438463E6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8DC45-E2CE-4E2C-82DD-50651DFC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701CE-B64B-4653-9D16-44539D10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P1　軟體廠商需要先確認的問題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CFB6E-B747-4794-8BBA-DA29D27D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以下問題未確認前，報價、時程與量產承諾都只能建立在假設上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3FE05-1A72-4726-94B3-F73607A3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Gunter × Goldkey  NAS 硬體 × 軟體合作提案分析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C5CA5-8333-4783-B969-67883E3E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294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CF098-22A9-4B0B-9C05-902A2DD3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241AF-334C-4564-8E8C-E61276B7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產品與平台範圍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C30BE-092A-49AA-B88D-74469398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首發是 2 Bay，還是同時做 4 Bay？Intel 或 ARM 是否已定案？是否只支援單一主板？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3A769-59AA-48C8-BD98-8F3A2728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9B135-C5A8-415A-886B-6F821940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291EB-A0C3-4257-9B50-26091404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功能清單的最終版本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798E2-9F01-4320-9E7D-59FCE841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第 6 頁支援 Docker／VM，第 7 頁卻明確不做。Photo、Mobile App 與影音功能也需逐項定義。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C634C-C416-46F1-91AF-5E8A6BD3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74F53-82EA-4922-AA5C-0EDE4769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A4F11-16B6-4CF7-A617-233F9D56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BSP 與 Driver 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F9523-23F5-4574-9725-1A21746F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814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誰提供可編譯 BSP、Kernel config、硬體文件與 Driver source？SoC 厂商问题由谁追踪？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63446-C877-4A87-A02A-05D5B1A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B0897-F427-4C0D-86BA-EA31B558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05B9D-A6B1-4429-B4CD-D071FA63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Storage 技術選型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3C30A-12B3-4B95-9B31-5CFF4DC3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4352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RAID 使用 mdadm、Btrfs 或 ZFS？Snapshot、加密、磁碟迁移及扩容需要支援到什么程度？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3AED5-382C-4CA7-B3B6-5772DC11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219B2-F55A-48E5-8C83-BC917FA7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89F276-7CB6-4526-A6CB-20573DAF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8115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Cloud 與遠端服務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560E93-1BCF-4195-A871-A358B87A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573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帳號、NAT 穿透、Relay、Multi-NAS 與全域搜尋由誰開發、營運並負擔持續成本？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DCEDF-7907-4551-9514-66A9472D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79D6FC-E5AD-45FC-AED4-D56C9F9F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A06217-FD48-4959-94A9-DCF1E76A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Web／Mobile UX 範圍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06695-A95C-4360-AC4F-D8AC04B6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1942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只做 Responsive Web，還是包含 iOS／Android 原生 App？設計稿、語言與無障礙標準由誰提供？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720D1F-3971-4F92-83ED-4BC93502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1CAD09-70E7-48EA-AE99-E17BCB1A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CB3119-224D-4441-BEB5-C29A1217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PoC 與量產驗收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E94B81-04B9-4D9C-96DF-7A3D960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814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需要明确开机、传输、Rebuild、断电、OTA、Rollback、硬碟相容性及稳定测试的量化门槛。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6B79DA-66D9-4506-95B4-3E3A7FFD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7090C8-4D2B-4F0D-B632-7E6F4B4F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DCE7C9-E519-4DBA-9DD9-D011C839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6730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商務、IP 與維護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94571E-BF97-47D9-8D5F-9EDF0195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4352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NRE、授权费、源码归属、新开发 IP、第三方授权、维护年限及 CVE／故障 SLA 如何定义？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2791A4-71AB-487B-8333-15266648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245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70F88D-96F8-498F-AC7A-262FEFE3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1C78B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0971FC-7247-43CB-869F-9F8BE078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1062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Go／No-Go：目标硬件、最终范围、责任边界和验收指标未冻结前，不进入固定总价与量产承诺。</a:t>
            </a:r>
          </a:p>
        </p:txBody>
      </p:sp>
    </p:spTree>
    <p:extLst>
      <p:ext uri="{BB962C8B-B14F-4D97-AF65-F5344CB8AC3E}">
        <p14:creationId xmlns:p14="http://schemas.microsoft.com/office/powerpoint/2010/main" val="902886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D79016-5D94-4AAF-AA2A-7C2B5E2E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9FE55-C600-475A-B157-EDD94A30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51009-5DEB-4F9C-A7E0-4D20ACD3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P2　硬體方與軟體廠商責任分工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771F4-394D-4ECF-BA69-B5F502AF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责任应按可控制的交付物划分，避免 BSP、Driver、Storage 与量产问题互相转嫁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8527B-1D4C-4CA4-8A29-815945C3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Gunter × Goldkey  NAS 硬體 × 軟體合作提案分析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4C926-D85B-4EBE-914B-ED4E6800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294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5B21A-344C-4CE2-94FA-18FBCD6B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81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84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2FED1-C824-4759-AF42-935C7BA7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硬體／產品方主責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15879-5C67-418F-A5FF-BD9EF787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AAD25-0B26-4423-A995-BAC5BF0D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產品定义、SKU、PRD 与目标成本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AC430-324D-4406-9F41-BC8E3438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E6271-3AD4-4522-9F51-06BA1391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5DCAB-003B-4D7A-AFD5-63A27BBD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SoC、主板、BOM、机构、散热与电源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E75B9-B46A-480B-A2D4-0384A78B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72758-31F1-46A4-A831-CC2EA432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B4ABB-824F-4F43-83B3-637EAD35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取得原厂 BSP、Datasheet、SDK 与 Driver 支援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AB0A5-BA04-4ED6-B9CD-0A151C1A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2E539-8927-4E4D-990F-2CCBC20E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F10B4-1CB6-4FD3-B77D-3098182B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8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Board bring-up、讯号、电气及硬体问题定位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4EEB6-268A-4599-A1BE-6283E56A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F1687-A4B5-4D24-818A-B542845A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4C8FA-462C-43B3-8D0A-F2FDDA0D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HDD／NVMe 样品、相容性零件与测试治具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D81AF-EF34-424C-AE72-BBA8296A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B3F2C-E23C-4C85-8305-DEB4C134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D9A8F2-8A7B-422A-8CAB-8AE3F021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0542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制造、认证、供应链、客户 PoC 与硬体 RMA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7A869F-D5EF-461B-B724-0FDC9B8E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408743-0FB6-4250-9F80-62954DCC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657350"/>
            <a:ext cx="3181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B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496063-1B8F-48BB-819B-26CEA1B1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9547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軟體廠商主責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E483D-CF1E-44DA-9DF1-6B443BC4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003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AAD2D1-E61F-4CF8-ADE9-EA20F9E6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整合 BSP，产出可重复建置的 Linux Image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7CBB5-517C-4426-9A2B-EA658BFD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051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927D95-C3D0-46C1-B3E0-4A96FF20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813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1F9D77-15EC-489B-B13F-01B4B4E4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8132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Storage、RAID、Filesystem、SMART 与磁碟流程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606F1F-21C5-4CE5-AF81-7E5C5076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86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F616B4-EA9A-4ECA-9DC1-874457A1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623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4E38AC-B59E-4A37-8B63-388DBAD6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6235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帐号权限、SMB／NFS、档案与备份恢复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DFB316-A78C-4092-9808-88A4DFD0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671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0053DD-A14C-4BF7-B1BB-6720E090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433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1F794C-5D76-44E7-A89B-61B36C8D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4337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Web UI、首次设置、照片与基础影音体验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D43E57-7451-4E3F-BB2D-A922D6B5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48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358655-D702-43E4-ACCB-23133F33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244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5DD642-27EB-49EB-B548-3987FE91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2440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OTA、Rollback、版本管理与安全修补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65B341-27A6-40BD-933D-606DF16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292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BE4BA6-E609-4C29-B573-72CB7B00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3054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C00EE4-A24A-4BCE-BE29-D6E13207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0542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Log、Diagnostics、RMA 工具、CI 与 Release 文件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58B73F-14C3-422B-AF48-5DCBFA5C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810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CEF36D-5E83-474B-A140-F2CE2C4C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181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B98D66-208A-4715-9CCD-865C0629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9547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雙方共同驗收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C51AE7-8B18-4A04-9F96-EF7B4F0D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003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71153F-DBED-4B2F-BCFF-3021E9E3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0030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硬体专属 Driver 问题与 SoC 厂商升级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CCD8AA-6D67-4A64-AC8B-EBEC4252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051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EC867D-CA7F-48C5-A6C6-ADEC7D83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813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5C619A-F45B-4D1B-8CFB-44738D27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8132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效能、温度、功耗与风扇策略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38CA85-1CCB-46DE-A631-2CDC9DF7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86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548D56-27C0-43DA-B19F-813FD902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623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23FBA6-55EB-4027-982D-F530DA85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断电、拔碟、换碟、Rebuild 与资料完整性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6739CE-3D65-47BE-8EA5-0211AD1E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671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B4EDA1-7B63-459D-9DC1-7441AFF7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433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EFEDE6-3E7A-4CDD-AA43-B05037D4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4337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硬碟／网络／周边相容性矩阵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546FA9-FED2-438D-8CEB-52C73FB1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48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913323-E5C0-4880-922E-C78A02BC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244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FE1FE2-F5DE-41DC-AEEA-7C8F2D22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2440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安全审查、Release Gate 与量产签核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92F02D-31DB-4FDB-BEC3-2029B1F8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292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F736E5-A81C-4A98-A24D-678AC042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054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41E239-11E5-4BAA-88B4-2E3F6770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0542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重大问题升级、版本路线与变更控制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6EDE4A-20C1-4227-8475-82B3598A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810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773AB72-F275-4D5D-9481-ED73B5A2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267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6F3"/>
          </a:solidFill>
          <a:ln xmlns:a="http://schemas.openxmlformats.org/drawingml/2006/main" w="9525">
            <a:solidFill>
              <a:srgbClr val="168A80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90A969-F9A5-4025-A1B7-1246AB94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关键边界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1C31BA-3EF7-4494-B5C7-EC333E41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96000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硬件方确保 BSP 与硬件可用；软件方负责系统整合。Driver 缺陷依来源归责，双方共同复现并推动修复。</a:t>
            </a:r>
          </a:p>
        </p:txBody>
      </p:sp>
    </p:spTree>
    <p:extLst>
      <p:ext uri="{BB962C8B-B14F-4D97-AF65-F5344CB8AC3E}">
        <p14:creationId xmlns:p14="http://schemas.microsoft.com/office/powerpoint/2010/main" val="589247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DCA4D3-EBF0-48ED-9E54-D659AAF2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7D060-2DB8-470F-9081-C3A4F5AA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81A91-4240-414E-A691-11900E41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P3　軟體廠商可能遇到的問題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E4611-5192-4FFE-88AE-8094740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最大风险来自范围超过团队能力、关键输入不受软件方控制，以及量产后的长期责任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7E196-E181-4128-9F6D-4BFF0ED4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Gunter × Goldkey  NAS 硬體 × 軟體合作提案分析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2DFEB-62C4-4873-9833-88B685C2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294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24980-7DA8-45D5-9E62-56F38A61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94B4B"/>
          </a:solidFill>
          <a:ln xmlns:a="http://schemas.openxmlformats.org/drawingml/2006/main" w="9525">
            <a:solidFill>
              <a:srgbClr val="B94B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0FDD6-3BED-479B-B2FB-6AA7C634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7436A-D404-4890-BDF3-64765928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範圍與人力不匹配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85548-00A3-4CE9-A769-FA756F24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811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Linux、RAID、Cloud、Mobile、OTA 与资安同时推进，4 至 8 人团队容易延误或牺牲 QA。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AA439-CCCE-448C-9599-9EC5095B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781A1-BA6A-4641-BAF7-339861FF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94B4B"/>
          </a:solidFill>
          <a:ln xmlns:a="http://schemas.openxmlformats.org/drawingml/2006/main" w="9525">
            <a:solidFill>
              <a:srgbClr val="B94B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39118-9716-4C4E-8476-8C75CBFB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73E24-E2F2-4E68-97E2-E23985C4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4312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BSP／硬體交付不穩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BB132-10CE-4587-ADBE-5D06C274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主板变更、Driver 缺陷或 SoC 原厂修复缓慢，会直接阻塞软件开发，但时程压力仍落在软件方。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37116-1279-45D3-BE8F-BC8D7B10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C8185-3D9B-4B40-B06B-A25365B3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94B4B"/>
          </a:solidFill>
          <a:ln xmlns:a="http://schemas.openxmlformats.org/drawingml/2006/main" w="9525">
            <a:solidFill>
              <a:srgbClr val="B94B4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00A84-1715-486C-94AB-DDDB47D4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52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B13F1-8BF0-4825-B128-7BA44018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051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RAID 與資料損失責任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810DC-49B3-4227-9B11-C988BCCA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断电、坏盘、Rebuild 或迁移异常可能造成资料损失、RMA、赔偿与品牌风险。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AB459-A070-4DB2-931B-DA271284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E28463-1CF3-4B5E-98A6-B66E01EA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94B4B"/>
          </a:solidFill>
          <a:ln xmlns:a="http://schemas.openxmlformats.org/drawingml/2006/main" w="9525">
            <a:solidFill>
              <a:srgbClr val="B94B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03DFB3-DEB3-4175-96A9-FBBE4C99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68114-A065-4762-A198-D3EC8E69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67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相容性組合快速膨脹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C20BD5-6CFC-46BA-8828-7C9A4EE4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670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2／4 Bay、Intel／ARM、不同 HDD／NVMe、网络与周边组合会显著增加回归测试。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CFFE1-0FCD-4DAC-AA76-741F68A1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76E4A5-13F9-48AB-810A-ADF39351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46A08"/>
          </a:solidFill>
          <a:ln xmlns:a="http://schemas.openxmlformats.org/drawingml/2006/main" w="9525">
            <a:solidFill>
              <a:srgbClr val="B46A0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2915C0-24EB-48D2-A241-1A263191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76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中高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A6EC7-2408-4A1A-BCA3-94CAAF3C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Cloud 長期營運成本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BAA1EF-99B0-4847-9CF3-09D2EB75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290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远端存取、Relay、帐号与 Multi-NAS 需要 24×7 服务、监控、隐私与事件响应。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5DD35-03B4-45D4-B2CF-9109C788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0B0B12-ED64-49AB-95EB-46BDCD2B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075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46A08"/>
          </a:solidFill>
          <a:ln xmlns:a="http://schemas.openxmlformats.org/drawingml/2006/main" w="9525">
            <a:solidFill>
              <a:srgbClr val="B46A0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B749B4-7DA1-404C-B03A-78C2CE5D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中高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5F281C-9451-4227-8D46-73A3E732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OTA 與 CVE 長期維護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2AB2F9-198C-4384-B177-DAA9F531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910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产品销售多年后仍需维护 Kernel、第三方套件、签章、Rollback 与紧急安全修补。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D79575-503D-44FA-8DD5-B3B9C0DC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86A2AC-FF33-49A2-A795-604DE20C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46A08"/>
          </a:solidFill>
          <a:ln xmlns:a="http://schemas.openxmlformats.org/drawingml/2006/main" w="9525">
            <a:solidFill>
              <a:srgbClr val="B46A0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905B16-0B21-416E-8DFE-7952360E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06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中高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84DC51-A1CB-4A0B-AEB9-C5A51E74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需求蔓延與反覆修改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CA3AB2-DCD7-464D-B0F6-AB590788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530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范围未冻结时容易出现持续加功能、重复验证、固定总价亏损与交付争议。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04BCEB-2697-4378-A045-B356F4E7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C12AA4-9344-4431-B818-70337E1E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68A80"/>
          </a:solidFill>
          <a:ln xmlns:a="http://schemas.openxmlformats.org/drawingml/2006/main" w="9525">
            <a:solidFill>
              <a:srgbClr val="168A8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A8CFFE-FE94-4A9F-B25A-EDC82030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中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AF2400-E9CA-409A-BD55-57BF1F34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149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消费者客服与现场诊断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578C0E-40F7-4AC9-86B1-4A078903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149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非技术用户的问题难以重现，需要遥测、Log 导出、恢复流程及明确的一二线客服分工。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43F008-234D-4C0F-AA05-28E7B65E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C354A5-2A92-43E4-87BC-A42729B4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19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原提案已有四个 Demo 阶段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d420edeae4be6"/>
          <a:stretch xmlns:a="http://schemas.openxmlformats.org/drawingml/2006/main"/>
        </p:blipFill>
        <p:spPr>
          <a:xfrm xmlns:a="http://schemas.openxmlformats.org/drawingml/2006/main">
            <a:off x="8496300" y="2012156"/>
            <a:ext cx="3124200" cy="1757363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4AC79A-90E6-488D-ABF8-A757AFCD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但缺少日期、量化通过标准、负责人、输入条件及失败后的变更机制。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4F1AE8-9559-4E18-9AFE-16AD8AC9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38700"/>
            <a:ext cx="3124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B46A08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557334-62EF-40FD-8259-CBAA24C0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101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6A08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B46A08"/>
                </a:solidFill>
                <a:latin typeface="Heiti TC"/>
                <a:ea typeface="Heiti TC"/>
                <a:cs typeface="Heiti TC"/>
              </a:rPr>
              <a:t>软件厂商的签约前条件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2C2084-B420-4D2C-A68B-77B238DC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91150"/>
            <a:ext cx="270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冻结 Scope 与硬件 Baseline</a:t>
            </a:r>
          </a:p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定义量化验收与变更计价</a:t>
            </a:r>
          </a:p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限定保固、维护年限与 SLA</a:t>
            </a:r>
          </a:p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将 Cloud OPEX 与资料责任写入合同</a:t>
            </a:r>
          </a:p>
        </p:txBody>
      </p:sp>
    </p:spTree>
    <p:extLst>
      <p:ext uri="{BB962C8B-B14F-4D97-AF65-F5344CB8AC3E}">
        <p14:creationId xmlns:p14="http://schemas.microsoft.com/office/powerpoint/2010/main" val="1463724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2026-10-01T03:16:12.0200000Z</dcterms:created>
  <dcterms:modified xsi:type="dcterms:W3CDTF">2026-10-01T03:16:12.0200000Z</dcterms:modified>
</coreProperties>
</file>