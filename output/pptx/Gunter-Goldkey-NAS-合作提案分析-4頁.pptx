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261dcb11134a5b" /><Relationship Type="http://schemas.openxmlformats.org/officeDocument/2006/relationships/extended-properties" Target="/docProps/app.xml" Id="R27055d2d34b94353" /><Relationship Type="http://schemas.openxmlformats.org/officeDocument/2006/relationships/officeDocument" Target="/ppt/presentation.xml" Id="R143b05c6323d44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bbd58471f2476c"/>
  </p:sldMasterIdLst>
  <p:notesMasterIdLst>
    <p:notesMasterId xmlns:r="http://schemas.openxmlformats.org/officeDocument/2006/relationships" r:id="R97c1508d34284e73"/>
  </p:notesMasterIdLst>
  <p:sldIdLst>
    <p:sldId xmlns:r="http://schemas.openxmlformats.org/officeDocument/2006/relationships" id="256" r:id="R57bad19a1fc34d5a"/>
    <p:sldId xmlns:r="http://schemas.openxmlformats.org/officeDocument/2006/relationships" id="257" r:id="R6591cb79bdb24206"/>
    <p:sldId xmlns:r="http://schemas.openxmlformats.org/officeDocument/2006/relationships" id="258" r:id="Rd91ded86612e4133"/>
    <p:sldId xmlns:r="http://schemas.openxmlformats.org/officeDocument/2006/relationships" id="259" r:id="R1fa0a6e0a902478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02b96b91534982" /><Relationship Type="http://schemas.openxmlformats.org/officeDocument/2006/relationships/slideMaster" Target="/ppt/slideMasters/slideMaster1.xml" Id="R7abbd58471f2476c" /><Relationship Type="http://schemas.openxmlformats.org/officeDocument/2006/relationships/notesMaster" Target="/ppt/notesMasters/notesMaster1.xml" Id="R97c1508d34284e73" /><Relationship Type="http://schemas.openxmlformats.org/officeDocument/2006/relationships/presProps" Target="/ppt/presProps.xml" Id="Rcc799cce29a84e4b" /><Relationship Type="http://schemas.openxmlformats.org/officeDocument/2006/relationships/tableStyles" Target="/ppt/tableStyles.xml" Id="R6d58a51a7a0e41da" /><Relationship Type="http://schemas.openxmlformats.org/officeDocument/2006/relationships/slide" Target="/ppt/slides/slide1.xml" Id="R57bad19a1fc34d5a" /><Relationship Type="http://schemas.openxmlformats.org/officeDocument/2006/relationships/slide" Target="/ppt/slides/slide2.xml" Id="R6591cb79bdb24206" /><Relationship Type="http://schemas.openxmlformats.org/officeDocument/2006/relationships/slide" Target="/ppt/slides/slide3.xml" Id="Rd91ded86612e4133" /><Relationship Type="http://schemas.openxmlformats.org/officeDocument/2006/relationships/slide" Target="/ppt/slides/slide4.xml" Id="R1fa0a6e0a90247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429b329c9943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54933be4494348" /><Relationship Type="http://schemas.openxmlformats.org/officeDocument/2006/relationships/notesMaster" Target="/ppt/notesMasters/notesMaster1.xml" Id="R4ccb76e9be984e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3ed0663b4a4695" /><Relationship Type="http://schemas.openxmlformats.org/officeDocument/2006/relationships/notesMaster" Target="/ppt/notesMasters/notesMaster1.xml" Id="R0f59dd60bca446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984195bc0c4695" /><Relationship Type="http://schemas.openxmlformats.org/officeDocument/2006/relationships/notesMaster" Target="/ppt/notesMasters/notesMaster1.xml" Id="R06f24bf06a8143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c37e89bf444e7d" /><Relationship Type="http://schemas.openxmlformats.org/officeDocument/2006/relationships/notesMaster" Target="/ppt/notesMasters/notesMaster1.xml" Id="R18f65a8afd1f4e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問題依據原提案第 6 至 8、13 至 16 頁整理。第 6 與第 7 頁對 Docker／Virtual Machine 的範圍描述不一致。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責任模型依据原提案第 13 至 15 页重新整理。原文件对 BSP／Driver 的主责描述重叠，本页将取得与硬件问题归硬件方，Linux Image 整合归软件方。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风险根据原提案第 8、14 至 16 页整理。第 14 页也提出 4 至 8 人团队能否持续支援 Product Release 的问题。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Linux Kernel 提供 MD Software RAID 等底层机制；mdadm、btrfs-progs 或 OpenZFS 负责管理。量产 NAS 仍需实现操作流程、监控、恢复及测试。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3b8a2a73fc48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ddb2e4e0d74c87" /><Relationship Type="http://schemas.openxmlformats.org/officeDocument/2006/relationships/slideLayout" Target="/ppt/slideLayouts/slideLayout1.xml" Id="R2c5ce73269834f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5ce73269834f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f4af0c4f214846" /><Relationship Type="http://schemas.openxmlformats.org/officeDocument/2006/relationships/notesSlide" Target="/ppt/notesSlides/notesSlide1.xml" Id="R19cfa25dacaf48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c297a2f74b42a9" /><Relationship Type="http://schemas.openxmlformats.org/officeDocument/2006/relationships/notesSlide" Target="/ppt/notesSlides/notesSlide2.xml" Id="Rda461263941e489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fe07a7cb964f88" /><Relationship Type="http://schemas.openxmlformats.org/officeDocument/2006/relationships/image" Target="/ppt/media/image.png" Id="R73ac1f750b8e4896" /><Relationship Type="http://schemas.openxmlformats.org/officeDocument/2006/relationships/notesSlide" Target="/ppt/notesSlides/notesSlide3.xml" Id="Rd311eeaed4a84f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40e64f84d748c1" /><Relationship Type="http://schemas.openxmlformats.org/officeDocument/2006/relationships/notesSlide" Target="/ppt/notesSlides/notesSlide4.xml" Id="R4e30c95443704a7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8CFB0E4-96F2-41F3-A2E9-734E9992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8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FFE148-168F-4A2D-A65B-DC4025B7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AB8A8E-E416-4D02-AA08-8C48A8C16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2841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0E2841"/>
                </a:solidFill>
                <a:latin typeface="Heiti TC"/>
                <a:ea typeface="Heiti TC"/>
                <a:cs typeface="Heiti TC"/>
              </a:rPr>
              <a:t>P1　軟體廠商需要先確認的問題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20DF72-8562-495B-9F7C-A927EB3B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58A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0758A"/>
                </a:solidFill>
                <a:latin typeface="Heiti TC"/>
                <a:ea typeface="Heiti TC"/>
                <a:cs typeface="Heiti TC"/>
              </a:rPr>
              <a:t>以下問題未確認前，報價、時程與量產承諾都只能建立在假設上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8FAE90-25EF-4513-A124-63A28C6D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29400"/>
            <a:ext cx="666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58A"/>
                </a:solidFill>
                <a:latin typeface="Heiti TC"/>
                <a:ea typeface="Heiti TC"/>
                <a:cs typeface="Heiti TC"/>
              </a:defRPr>
            </a:pPr>
            <a:r>
              <a:rPr sz="750" b="0">
                <a:solidFill>
                  <a:srgbClr val="60758A"/>
                </a:solidFill>
                <a:latin typeface="Heiti TC"/>
                <a:ea typeface="Heiti TC"/>
                <a:cs typeface="Heiti TC"/>
              </a:rPr>
              <a:t>Gunter × Goldkey  NAS 硬體 × 軟體合作提案分析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E6F2EB-C5A2-46BE-996E-9DE30F37F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29400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0758A"/>
                </a:solidFill>
                <a:latin typeface="Heiti TC"/>
                <a:ea typeface="Heiti TC"/>
                <a:cs typeface="Heiti TC"/>
              </a:defRPr>
            </a:pPr>
            <a:r>
              <a:rPr sz="750" b="0">
                <a:solidFill>
                  <a:srgbClr val="60758A"/>
                </a:solidFill>
                <a:latin typeface="Heiti TC"/>
                <a:ea typeface="Heiti TC"/>
                <a:cs typeface="Heiti T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C8DD0A-517B-4001-A164-AB328C3C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40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78B5"/>
                </a:solidFill>
                <a:latin typeface="Heiti TC"/>
                <a:ea typeface="Heiti TC"/>
                <a:cs typeface="Heiti TC"/>
              </a:defRPr>
            </a:pPr>
            <a:r>
              <a:rPr sz="1275" b="1">
                <a:solidFill>
                  <a:srgbClr val="1C78B5"/>
                </a:solidFill>
                <a:latin typeface="Heiti TC"/>
                <a:ea typeface="Heiti TC"/>
                <a:cs typeface="Heiti T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C57581-C193-44E6-9E28-CADE89AF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81150"/>
            <a:ext cx="483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2841"/>
                </a:solidFill>
                <a:latin typeface="Heiti TC"/>
                <a:ea typeface="Heiti TC"/>
                <a:cs typeface="Heiti TC"/>
              </a:defRPr>
            </a:pPr>
            <a:r>
              <a:rPr sz="1350" b="1">
                <a:solidFill>
                  <a:srgbClr val="0E2841"/>
                </a:solidFill>
                <a:latin typeface="Heiti TC"/>
                <a:ea typeface="Heiti TC"/>
                <a:cs typeface="Heiti TC"/>
              </a:rPr>
              <a:t>產品與平台範圍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459B0A-B131-465F-A044-718637CF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57375"/>
            <a:ext cx="4838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首發是 2 Bay，還是同時做 4 Bay？Intel 或 ARM 是否已定案？是否只支援單一主板？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BD5A3C-076B-4C20-924A-000E6DE6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529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3DBE0B-F726-443F-B92E-E7280775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40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78B5"/>
                </a:solidFill>
                <a:latin typeface="Heiti TC"/>
                <a:ea typeface="Heiti TC"/>
                <a:cs typeface="Heiti TC"/>
              </a:defRPr>
            </a:pPr>
            <a:r>
              <a:rPr sz="1275" b="1">
                <a:solidFill>
                  <a:srgbClr val="1C78B5"/>
                </a:solidFill>
                <a:latin typeface="Heiti TC"/>
                <a:ea typeface="Heiti TC"/>
                <a:cs typeface="Heiti T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530571-C7BC-4F1A-9C82-8B49ADF7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43200"/>
            <a:ext cx="483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2841"/>
                </a:solidFill>
                <a:latin typeface="Heiti TC"/>
                <a:ea typeface="Heiti TC"/>
                <a:cs typeface="Heiti TC"/>
              </a:defRPr>
            </a:pPr>
            <a:r>
              <a:rPr sz="1350" b="1">
                <a:solidFill>
                  <a:srgbClr val="0E2841"/>
                </a:solidFill>
                <a:latin typeface="Heiti TC"/>
                <a:ea typeface="Heiti TC"/>
                <a:cs typeface="Heiti TC"/>
              </a:rPr>
              <a:t>功能清單的最終版本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746AF3-164C-42C6-8996-29B30C39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19425"/>
            <a:ext cx="4838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第 6 頁支援 Docker／VM，第 7 頁卻明確不做。Photo、Mobile App 與影音功能也需逐項定義。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F675C3-79C5-4507-B9D7-D90E8C70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529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05F54E-CEC7-46C9-B0B5-9D295E0A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40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78B5"/>
                </a:solidFill>
                <a:latin typeface="Heiti TC"/>
                <a:ea typeface="Heiti TC"/>
                <a:cs typeface="Heiti TC"/>
              </a:defRPr>
            </a:pPr>
            <a:r>
              <a:rPr sz="1275" b="1">
                <a:solidFill>
                  <a:srgbClr val="1C78B5"/>
                </a:solidFill>
                <a:latin typeface="Heiti TC"/>
                <a:ea typeface="Heiti TC"/>
                <a:cs typeface="Heiti T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85A30C-EDB8-4ED1-B415-255CEB179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483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2841"/>
                </a:solidFill>
                <a:latin typeface="Heiti TC"/>
                <a:ea typeface="Heiti TC"/>
                <a:cs typeface="Heiti TC"/>
              </a:defRPr>
            </a:pPr>
            <a:r>
              <a:rPr sz="1350" b="1">
                <a:solidFill>
                  <a:srgbClr val="0E2841"/>
                </a:solidFill>
                <a:latin typeface="Heiti TC"/>
                <a:ea typeface="Heiti TC"/>
                <a:cs typeface="Heiti TC"/>
              </a:rPr>
              <a:t>BSP 與 Driver 交付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A9F3D8-774C-4029-BA82-848F4853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81475"/>
            <a:ext cx="4838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誰提供可編譯 BSP、Kernel config、硬體文件與 Driver source？SoC 厂商问题由谁追踪？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A367BA-A1E0-41E0-9A88-A3456AD2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29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6CD253-9708-46CD-8CA1-46D17F4E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40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78B5"/>
                </a:solidFill>
                <a:latin typeface="Heiti TC"/>
                <a:ea typeface="Heiti TC"/>
                <a:cs typeface="Heiti TC"/>
              </a:defRPr>
            </a:pPr>
            <a:r>
              <a:rPr sz="1275" b="1">
                <a:solidFill>
                  <a:srgbClr val="1C78B5"/>
                </a:solidFill>
                <a:latin typeface="Heiti TC"/>
                <a:ea typeface="Heiti TC"/>
                <a:cs typeface="Heiti T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429DE7-596C-4FB5-8332-26BF9B66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483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2841"/>
                </a:solidFill>
                <a:latin typeface="Heiti TC"/>
                <a:ea typeface="Heiti TC"/>
                <a:cs typeface="Heiti TC"/>
              </a:defRPr>
            </a:pPr>
            <a:r>
              <a:rPr sz="1350" b="1">
                <a:solidFill>
                  <a:srgbClr val="0E2841"/>
                </a:solidFill>
                <a:latin typeface="Heiti TC"/>
                <a:ea typeface="Heiti TC"/>
                <a:cs typeface="Heiti TC"/>
              </a:rPr>
              <a:t>Storage 技術選型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797A72-5052-47E5-A5EE-9AFF16D2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43525"/>
            <a:ext cx="4838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RAID 使用 mdadm、Btrfs 或 ZFS？Snapshot、加密、磁碟迁移及扩容需要支援到什么程度？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35C409-A2C7-4008-B86A-220723C2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529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23F0B9-DF0D-4186-9C8B-4A5E6CFF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81150"/>
            <a:ext cx="40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78B5"/>
                </a:solidFill>
                <a:latin typeface="Heiti TC"/>
                <a:ea typeface="Heiti TC"/>
                <a:cs typeface="Heiti TC"/>
              </a:defRPr>
            </a:pPr>
            <a:r>
              <a:rPr sz="1275" b="1">
                <a:solidFill>
                  <a:srgbClr val="1C78B5"/>
                </a:solidFill>
                <a:latin typeface="Heiti TC"/>
                <a:ea typeface="Heiti TC"/>
                <a:cs typeface="Heiti TC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A6AEBE-7734-41A2-9B69-A4CA43C6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81150"/>
            <a:ext cx="483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2841"/>
                </a:solidFill>
                <a:latin typeface="Heiti TC"/>
                <a:ea typeface="Heiti TC"/>
                <a:cs typeface="Heiti TC"/>
              </a:defRPr>
            </a:pPr>
            <a:r>
              <a:rPr sz="1350" b="1">
                <a:solidFill>
                  <a:srgbClr val="0E2841"/>
                </a:solidFill>
                <a:latin typeface="Heiti TC"/>
                <a:ea typeface="Heiti TC"/>
                <a:cs typeface="Heiti TC"/>
              </a:rPr>
              <a:t>Cloud 與遠端服務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A088C0-E37F-4F50-92E7-C8DC5723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57375"/>
            <a:ext cx="4838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帳號、NAT 穿透、Relay、Multi-NAS 與全域搜尋由誰開發、營運並負擔持續成本？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A3E1F8-8A4E-41BC-B0A4-E448314A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38400"/>
            <a:ext cx="529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6DD1F7-43B4-4493-9A90-20D1200F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43200"/>
            <a:ext cx="40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78B5"/>
                </a:solidFill>
                <a:latin typeface="Heiti TC"/>
                <a:ea typeface="Heiti TC"/>
                <a:cs typeface="Heiti TC"/>
              </a:defRPr>
            </a:pPr>
            <a:r>
              <a:rPr sz="1275" b="1">
                <a:solidFill>
                  <a:srgbClr val="1C78B5"/>
                </a:solidFill>
                <a:latin typeface="Heiti TC"/>
                <a:ea typeface="Heiti TC"/>
                <a:cs typeface="Heiti TC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74C75C-17D1-4696-8CBE-59B3399D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43200"/>
            <a:ext cx="483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2841"/>
                </a:solidFill>
                <a:latin typeface="Heiti TC"/>
                <a:ea typeface="Heiti TC"/>
                <a:cs typeface="Heiti TC"/>
              </a:defRPr>
            </a:pPr>
            <a:r>
              <a:rPr sz="1350" b="1">
                <a:solidFill>
                  <a:srgbClr val="0E2841"/>
                </a:solidFill>
                <a:latin typeface="Heiti TC"/>
                <a:ea typeface="Heiti TC"/>
                <a:cs typeface="Heiti TC"/>
              </a:rPr>
              <a:t>Web／Mobile UX 範圍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EE76DB-A275-4D06-AA40-DF3E65BE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19425"/>
            <a:ext cx="4838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只做 Responsive Web，還是包含 iOS／Android 原生 App？設計稿、語言與無障礙標準由誰提供？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F7440D-6F43-4CD5-8B9F-F8F028D2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00450"/>
            <a:ext cx="529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3BC5C3-28BE-4429-8B8E-1A85EDC4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40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78B5"/>
                </a:solidFill>
                <a:latin typeface="Heiti TC"/>
                <a:ea typeface="Heiti TC"/>
                <a:cs typeface="Heiti TC"/>
              </a:defRPr>
            </a:pPr>
            <a:r>
              <a:rPr sz="1275" b="1">
                <a:solidFill>
                  <a:srgbClr val="1C78B5"/>
                </a:solidFill>
                <a:latin typeface="Heiti TC"/>
                <a:ea typeface="Heiti TC"/>
                <a:cs typeface="Heiti TC"/>
              </a:rPr>
              <a:t>07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15806C-3F6E-4E9F-8EB9-DDC05FF51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905250"/>
            <a:ext cx="483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2841"/>
                </a:solidFill>
                <a:latin typeface="Heiti TC"/>
                <a:ea typeface="Heiti TC"/>
                <a:cs typeface="Heiti TC"/>
              </a:defRPr>
            </a:pPr>
            <a:r>
              <a:rPr sz="1350" b="1">
                <a:solidFill>
                  <a:srgbClr val="0E2841"/>
                </a:solidFill>
                <a:latin typeface="Heiti TC"/>
                <a:ea typeface="Heiti TC"/>
                <a:cs typeface="Heiti TC"/>
              </a:rPr>
              <a:t>PoC 與量產驗收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141F5E-9460-4EA7-B32D-D74D953D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81475"/>
            <a:ext cx="4838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需要明确开机、传输、Rebuild、断电、OTA、Rollback、硬碟相容性及稳定测试的量化门槛。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F39365-2D46-4AC7-8B43-81B61C01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62500"/>
            <a:ext cx="529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22EAFC-0F1C-4364-BA58-3D829A18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67300"/>
            <a:ext cx="40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78B5"/>
                </a:solidFill>
                <a:latin typeface="Heiti TC"/>
                <a:ea typeface="Heiti TC"/>
                <a:cs typeface="Heiti TC"/>
              </a:defRPr>
            </a:pPr>
            <a:r>
              <a:rPr sz="1275" b="1">
                <a:solidFill>
                  <a:srgbClr val="1C78B5"/>
                </a:solidFill>
                <a:latin typeface="Heiti TC"/>
                <a:ea typeface="Heiti TC"/>
                <a:cs typeface="Heiti TC"/>
              </a:rPr>
              <a:t>08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973CA1E-1538-4E6A-BD8B-D2B2C5A5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067300"/>
            <a:ext cx="483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2841"/>
                </a:solidFill>
                <a:latin typeface="Heiti TC"/>
                <a:ea typeface="Heiti TC"/>
                <a:cs typeface="Heiti TC"/>
              </a:defRPr>
            </a:pPr>
            <a:r>
              <a:rPr sz="1350" b="1">
                <a:solidFill>
                  <a:srgbClr val="0E2841"/>
                </a:solidFill>
                <a:latin typeface="Heiti TC"/>
                <a:ea typeface="Heiti TC"/>
                <a:cs typeface="Heiti TC"/>
              </a:rPr>
              <a:t>商務、IP 與維護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FCAE78D-8038-4CD9-8F5C-1041489D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343525"/>
            <a:ext cx="4838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NRE、授权费、源码归属、新开发 IP、第三方授权、维护年限及 CVE／故障 SLA 如何定义？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8AEA50C-5C1E-434C-9AF0-85EE0FF6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924550"/>
            <a:ext cx="529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86D8ED4-D000-40B3-8E05-262CE5B7F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6FD"/>
          </a:solidFill>
          <a:ln xmlns:a="http://schemas.openxmlformats.org/drawingml/2006/main" w="9525">
            <a:solidFill>
              <a:srgbClr val="1C78B5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A32399C-00D9-41F4-9E00-1B843915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10300"/>
            <a:ext cx="10629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78B5"/>
                </a:solidFill>
                <a:latin typeface="Heiti TC"/>
                <a:ea typeface="Heiti TC"/>
                <a:cs typeface="Heiti TC"/>
              </a:defRPr>
            </a:pPr>
            <a:r>
              <a:rPr sz="1125" b="1">
                <a:solidFill>
                  <a:srgbClr val="1C78B5"/>
                </a:solidFill>
                <a:latin typeface="Heiti TC"/>
                <a:ea typeface="Heiti TC"/>
                <a:cs typeface="Heiti TC"/>
              </a:rPr>
              <a:t>Go／No-Go：目标硬件、最终范围、责任边界和验收指标未冻结前，不进入固定总价与量产承诺。</a:t>
            </a:r>
          </a:p>
        </p:txBody>
      </p:sp>
    </p:spTree>
    <p:extLst>
      <p:ext uri="{BB962C8B-B14F-4D97-AF65-F5344CB8AC3E}">
        <p14:creationId xmlns:p14="http://schemas.microsoft.com/office/powerpoint/2010/main" val="17251737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C0860F3-527B-46E8-A05D-82E1B478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8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BFE68A-0A3B-41EF-9BC7-B45CF219E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65E2B4-2A32-4DCD-B56D-E631E1A1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2841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0E2841"/>
                </a:solidFill>
                <a:latin typeface="Heiti TC"/>
                <a:ea typeface="Heiti TC"/>
                <a:cs typeface="Heiti TC"/>
              </a:rPr>
              <a:t>P2　硬體方與軟體廠商責任分工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410943-4FBC-484C-85E6-733B744A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58A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0758A"/>
                </a:solidFill>
                <a:latin typeface="Heiti TC"/>
                <a:ea typeface="Heiti TC"/>
                <a:cs typeface="Heiti TC"/>
              </a:rPr>
              <a:t>责任应按可控制的交付物划分，避免 BSP、Driver、Storage 与量产问题互相转嫁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79C2B2-A684-416B-AC9D-ABECAAE7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29400"/>
            <a:ext cx="666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58A"/>
                </a:solidFill>
                <a:latin typeface="Heiti TC"/>
                <a:ea typeface="Heiti TC"/>
                <a:cs typeface="Heiti TC"/>
              </a:defRPr>
            </a:pPr>
            <a:r>
              <a:rPr sz="750" b="0">
                <a:solidFill>
                  <a:srgbClr val="60758A"/>
                </a:solidFill>
                <a:latin typeface="Heiti TC"/>
                <a:ea typeface="Heiti TC"/>
                <a:cs typeface="Heiti TC"/>
              </a:rPr>
              <a:t>Gunter × Goldkey  NAS 硬體 × 軟體合作提案分析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75BDB7-9D30-4EAF-86C2-1D973256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29400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0758A"/>
                </a:solidFill>
                <a:latin typeface="Heiti TC"/>
                <a:ea typeface="Heiti TC"/>
                <a:cs typeface="Heiti TC"/>
              </a:defRPr>
            </a:pPr>
            <a:r>
              <a:rPr sz="750" b="0">
                <a:solidFill>
                  <a:srgbClr val="60758A"/>
                </a:solidFill>
                <a:latin typeface="Heiti TC"/>
                <a:ea typeface="Heiti TC"/>
                <a:cs typeface="Heiti T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3C262C-BA06-47A2-8E40-345C6BF6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3181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84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90DEC0-9113-4303-A508-CEBD8C32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3181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2841"/>
                </a:solidFill>
                <a:latin typeface="Heiti TC"/>
                <a:ea typeface="Heiti TC"/>
                <a:cs typeface="Heiti TC"/>
              </a:defRPr>
            </a:pPr>
            <a:r>
              <a:rPr sz="1575" b="1">
                <a:solidFill>
                  <a:srgbClr val="0E2841"/>
                </a:solidFill>
                <a:latin typeface="Heiti TC"/>
                <a:ea typeface="Heiti TC"/>
                <a:cs typeface="Heiti TC"/>
              </a:rPr>
              <a:t>硬體／產品方主責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5F2369-C0B5-4AD7-9A4D-4EA25D23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2841"/>
                </a:solidFill>
                <a:latin typeface="Heiti TC"/>
                <a:ea typeface="Heiti TC"/>
                <a:cs typeface="Heiti TC"/>
              </a:defRPr>
            </a:pPr>
            <a:r>
              <a:rPr sz="1050" b="1">
                <a:solidFill>
                  <a:srgbClr val="0E2841"/>
                </a:solidFill>
                <a:latin typeface="Heiti TC"/>
                <a:ea typeface="Heiti TC"/>
                <a:cs typeface="Heiti T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DB8EE5-592B-4BE5-A81D-CBCF7613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0300"/>
            <a:ext cx="27813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產品定义、SKU、PRD 与目标成本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BB8939-4B38-41D9-B8B1-AE092AF3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180C2B-B827-4A5C-A362-2C046FB6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3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2841"/>
                </a:solidFill>
                <a:latin typeface="Heiti TC"/>
                <a:ea typeface="Heiti TC"/>
                <a:cs typeface="Heiti TC"/>
              </a:defRPr>
            </a:pPr>
            <a:r>
              <a:rPr sz="1050" b="1">
                <a:solidFill>
                  <a:srgbClr val="0E2841"/>
                </a:solidFill>
                <a:latin typeface="Heiti TC"/>
                <a:ea typeface="Heiti TC"/>
                <a:cs typeface="Heiti T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3D8FB3-A340-4A05-B71E-996C1297E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27813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SoC、主板、BOM、机构、散热与电源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D64AD1-A09B-41C8-ABF5-B2F83345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C2E3AB-BFF3-47EF-8D1D-B381F87C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2841"/>
                </a:solidFill>
                <a:latin typeface="Heiti TC"/>
                <a:ea typeface="Heiti TC"/>
                <a:cs typeface="Heiti TC"/>
              </a:defRPr>
            </a:pPr>
            <a:r>
              <a:rPr sz="1050" b="1">
                <a:solidFill>
                  <a:srgbClr val="0E2841"/>
                </a:solidFill>
                <a:latin typeface="Heiti TC"/>
                <a:ea typeface="Heiti TC"/>
                <a:cs typeface="Heiti T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8A40DD-946E-4CDF-8921-31113ACC6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62350"/>
            <a:ext cx="27813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取得原厂 BSP、Datasheet、SDK 与 Driver 支援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5E9ADF-FBA2-4653-9666-937566E0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7175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0ED7D4-798E-484A-9788-FE2AAA8F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2841"/>
                </a:solidFill>
                <a:latin typeface="Heiti TC"/>
                <a:ea typeface="Heiti TC"/>
                <a:cs typeface="Heiti TC"/>
              </a:defRPr>
            </a:pPr>
            <a:r>
              <a:rPr sz="1050" b="1">
                <a:solidFill>
                  <a:srgbClr val="0E2841"/>
                </a:solidFill>
                <a:latin typeface="Heiti TC"/>
                <a:ea typeface="Heiti TC"/>
                <a:cs typeface="Heiti TC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883D82-9FF7-4FFF-9640-F8C20279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43375"/>
            <a:ext cx="27813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484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Board bring-up、讯号、电气及硬体问题定位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903B08-3632-436D-8B08-0A27F940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FF37FF-1C52-4380-ADC5-6DC459C9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2841"/>
                </a:solidFill>
                <a:latin typeface="Heiti TC"/>
                <a:ea typeface="Heiti TC"/>
                <a:cs typeface="Heiti TC"/>
              </a:defRPr>
            </a:pPr>
            <a:r>
              <a:rPr sz="1050" b="1">
                <a:solidFill>
                  <a:srgbClr val="0E2841"/>
                </a:solidFill>
                <a:latin typeface="Heiti TC"/>
                <a:ea typeface="Heiti TC"/>
                <a:cs typeface="Heiti TC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C167EF-3C42-4F40-B6E6-9700D176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24400"/>
            <a:ext cx="27813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HDD／NVMe 样品、相容性零件与测试治具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427C94-B3CE-4091-9583-78452FC6A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29225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392C0E-64FE-4A50-AB0E-A1E209AF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2841"/>
                </a:solidFill>
                <a:latin typeface="Heiti TC"/>
                <a:ea typeface="Heiti TC"/>
                <a:cs typeface="Heiti TC"/>
              </a:defRPr>
            </a:pPr>
            <a:r>
              <a:rPr sz="1050" b="1">
                <a:solidFill>
                  <a:srgbClr val="0E2841"/>
                </a:solidFill>
                <a:latin typeface="Heiti TC"/>
                <a:ea typeface="Heiti TC"/>
                <a:cs typeface="Heiti TC"/>
              </a:rPr>
              <a:t>06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AC6859-47DD-4140-8853-57AFF83A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05425"/>
            <a:ext cx="27813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制造、认证、供应链、客户 PoC 与硬体 RMA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039AC0-49BF-4CBC-A6D1-0761DB44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C03289-1BC5-4E67-A3B1-CB4C8FDA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657350"/>
            <a:ext cx="3181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8B5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3B7282-297C-45C7-AE44-D5C91729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895475"/>
            <a:ext cx="3181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C78B5"/>
                </a:solidFill>
                <a:latin typeface="Heiti TC"/>
                <a:ea typeface="Heiti TC"/>
                <a:cs typeface="Heiti TC"/>
              </a:defRPr>
            </a:pPr>
            <a:r>
              <a:rPr sz="1575" b="1">
                <a:solidFill>
                  <a:srgbClr val="1C78B5"/>
                </a:solidFill>
                <a:latin typeface="Heiti TC"/>
                <a:ea typeface="Heiti TC"/>
                <a:cs typeface="Heiti TC"/>
              </a:rPr>
              <a:t>軟體廠商主責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F780DF-3AD5-44E7-AE7F-12745953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4003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C78B5"/>
                </a:solidFill>
                <a:latin typeface="Heiti TC"/>
                <a:ea typeface="Heiti TC"/>
                <a:cs typeface="Heiti TC"/>
              </a:defRPr>
            </a:pPr>
            <a:r>
              <a:rPr sz="1050" b="1">
                <a:solidFill>
                  <a:srgbClr val="1C78B5"/>
                </a:solidFill>
                <a:latin typeface="Heiti TC"/>
                <a:ea typeface="Heiti TC"/>
                <a:cs typeface="Heiti TC"/>
              </a:rPr>
              <a:t>01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0CE5D0-0473-47F6-BCBE-EC97E7DF6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00300"/>
            <a:ext cx="27813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整合 BSP，产出可重复建置的 Linux Image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BAEF0D-B2E8-4A60-BF94-AC5C44CA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905125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6732E1-032A-4E63-AEDA-44FD1398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9813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C78B5"/>
                </a:solidFill>
                <a:latin typeface="Heiti TC"/>
                <a:ea typeface="Heiti TC"/>
                <a:cs typeface="Heiti TC"/>
              </a:defRPr>
            </a:pPr>
            <a:r>
              <a:rPr sz="1050" b="1">
                <a:solidFill>
                  <a:srgbClr val="1C78B5"/>
                </a:solidFill>
                <a:latin typeface="Heiti TC"/>
                <a:ea typeface="Heiti TC"/>
                <a:cs typeface="Heiti TC"/>
              </a:rPr>
              <a:t>02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0B0DE0-941B-4527-8C62-B2ACF3ED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81325"/>
            <a:ext cx="27813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Storage、RAID、Filesystem、SMART 与磁碟流程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BE152D-E4BC-4C99-A900-3E149458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4861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A3B61E-A283-4205-A6CA-C0D985DF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5623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C78B5"/>
                </a:solidFill>
                <a:latin typeface="Heiti TC"/>
                <a:ea typeface="Heiti TC"/>
                <a:cs typeface="Heiti TC"/>
              </a:defRPr>
            </a:pPr>
            <a:r>
              <a:rPr sz="1050" b="1">
                <a:solidFill>
                  <a:srgbClr val="1C78B5"/>
                </a:solidFill>
                <a:latin typeface="Heiti TC"/>
                <a:ea typeface="Heiti TC"/>
                <a:cs typeface="Heiti TC"/>
              </a:rPr>
              <a:t>03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F8B6115-F3A1-4EA2-BFC6-7193A15B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62350"/>
            <a:ext cx="27813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帐号权限、SMB／NFS、档案与备份恢复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2B3B341-06BC-4206-9653-B7ABA477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067175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18E859C-9A8B-45CF-B27F-4706A369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1433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C78B5"/>
                </a:solidFill>
                <a:latin typeface="Heiti TC"/>
                <a:ea typeface="Heiti TC"/>
                <a:cs typeface="Heiti TC"/>
              </a:defRPr>
            </a:pPr>
            <a:r>
              <a:rPr sz="1050" b="1">
                <a:solidFill>
                  <a:srgbClr val="1C78B5"/>
                </a:solidFill>
                <a:latin typeface="Heiti TC"/>
                <a:ea typeface="Heiti TC"/>
                <a:cs typeface="Heiti TC"/>
              </a:rPr>
              <a:t>04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6EADBA6-43D1-4789-8DEB-CBDA570A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43375"/>
            <a:ext cx="27813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Web UI、首次设置、照片与基础影音体验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E090493-0626-4B7D-9ECA-A6E3B6FD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6482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9CB7D40-4D08-4041-8A4F-0BCBF0A6B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7244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C78B5"/>
                </a:solidFill>
                <a:latin typeface="Heiti TC"/>
                <a:ea typeface="Heiti TC"/>
                <a:cs typeface="Heiti TC"/>
              </a:defRPr>
            </a:pPr>
            <a:r>
              <a:rPr sz="1050" b="1">
                <a:solidFill>
                  <a:srgbClr val="1C78B5"/>
                </a:solidFill>
                <a:latin typeface="Heiti TC"/>
                <a:ea typeface="Heiti TC"/>
                <a:cs typeface="Heiti TC"/>
              </a:rPr>
              <a:t>05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2BF9713-B6F7-48B0-85BE-BFB3C63C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724400"/>
            <a:ext cx="27813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OTA、Rollback、版本管理与安全修补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A3497AD-6118-4656-B096-0EAB4ABD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229225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8A638DE-F78E-4C29-9263-40798A7E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3054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C78B5"/>
                </a:solidFill>
                <a:latin typeface="Heiti TC"/>
                <a:ea typeface="Heiti TC"/>
                <a:cs typeface="Heiti TC"/>
              </a:defRPr>
            </a:pPr>
            <a:r>
              <a:rPr sz="1050" b="1">
                <a:solidFill>
                  <a:srgbClr val="1C78B5"/>
                </a:solidFill>
                <a:latin typeface="Heiti TC"/>
                <a:ea typeface="Heiti TC"/>
                <a:cs typeface="Heiti TC"/>
              </a:rPr>
              <a:t>06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399F4CC-F06D-4677-91B1-92DB91AD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305425"/>
            <a:ext cx="27813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Log、Diagnostics、RMA 工具、CI 与 Release 文件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68E51D8-8EF2-41C3-BE6B-24C0F3B1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8102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495FB08-A8E6-4C20-B11A-39B8D151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657350"/>
            <a:ext cx="3181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80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B43701A-90BD-458C-AB5B-5C388DE2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895475"/>
            <a:ext cx="3181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8A80"/>
                </a:solidFill>
                <a:latin typeface="Heiti TC"/>
                <a:ea typeface="Heiti TC"/>
                <a:cs typeface="Heiti TC"/>
              </a:defRPr>
            </a:pPr>
            <a:r>
              <a:rPr sz="1575" b="1">
                <a:solidFill>
                  <a:srgbClr val="168A80"/>
                </a:solidFill>
                <a:latin typeface="Heiti TC"/>
                <a:ea typeface="Heiti TC"/>
                <a:cs typeface="Heiti TC"/>
              </a:rPr>
              <a:t>雙方共同驗收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5DA6595-9CC5-41D6-B354-FBCF1319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4003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A80"/>
                </a:solidFill>
                <a:latin typeface="Heiti TC"/>
                <a:ea typeface="Heiti TC"/>
                <a:cs typeface="Heiti TC"/>
              </a:defRPr>
            </a:pPr>
            <a:r>
              <a:rPr sz="1050" b="1">
                <a:solidFill>
                  <a:srgbClr val="168A80"/>
                </a:solidFill>
                <a:latin typeface="Heiti TC"/>
                <a:ea typeface="Heiti TC"/>
                <a:cs typeface="Heiti TC"/>
              </a:rPr>
              <a:t>01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99FEC37-A868-4E8E-BEEA-62CFC6BA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00300"/>
            <a:ext cx="27813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硬体专属 Driver 问题与 SoC 厂商升级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E318065-3F4E-4B64-88F5-11D06BAE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05125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88231F3-96EC-4C2E-B454-B44B1437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813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A80"/>
                </a:solidFill>
                <a:latin typeface="Heiti TC"/>
                <a:ea typeface="Heiti TC"/>
                <a:cs typeface="Heiti TC"/>
              </a:defRPr>
            </a:pPr>
            <a:r>
              <a:rPr sz="1050" b="1">
                <a:solidFill>
                  <a:srgbClr val="168A80"/>
                </a:solidFill>
                <a:latin typeface="Heiti TC"/>
                <a:ea typeface="Heiti TC"/>
                <a:cs typeface="Heiti TC"/>
              </a:rPr>
              <a:t>02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691A935-9190-4703-B6EC-22ED4E6A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81325"/>
            <a:ext cx="27813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效能、温度、功耗与风扇策略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1FC11B4-BCA2-450E-87F5-6217E555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4861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50C6CB8-8A4B-43B0-9AD1-9AD3C35A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5623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A80"/>
                </a:solidFill>
                <a:latin typeface="Heiti TC"/>
                <a:ea typeface="Heiti TC"/>
                <a:cs typeface="Heiti TC"/>
              </a:defRPr>
            </a:pPr>
            <a:r>
              <a:rPr sz="1050" b="1">
                <a:solidFill>
                  <a:srgbClr val="168A80"/>
                </a:solidFill>
                <a:latin typeface="Heiti TC"/>
                <a:ea typeface="Heiti TC"/>
                <a:cs typeface="Heiti TC"/>
              </a:rPr>
              <a:t>03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86ECC54-3D48-4775-80E8-017338AB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62350"/>
            <a:ext cx="27813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断电、拔碟、换碟、Rebuild 与资料完整性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93A90CD-8509-48C6-9DC7-BB5533F4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067175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AD55C8F-FDD4-4C6E-8F07-6E08A559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1433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A80"/>
                </a:solidFill>
                <a:latin typeface="Heiti TC"/>
                <a:ea typeface="Heiti TC"/>
                <a:cs typeface="Heiti TC"/>
              </a:defRPr>
            </a:pPr>
            <a:r>
              <a:rPr sz="1050" b="1">
                <a:solidFill>
                  <a:srgbClr val="168A80"/>
                </a:solidFill>
                <a:latin typeface="Heiti TC"/>
                <a:ea typeface="Heiti TC"/>
                <a:cs typeface="Heiti TC"/>
              </a:rPr>
              <a:t>04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A772EFE-01D9-43C9-89CD-AA89BBE9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143375"/>
            <a:ext cx="27813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硬碟／网络／周边相容性矩阵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D05A71F-0C15-4991-9093-F87A829C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6482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9A42CA9-E2F5-4914-B6A7-936D7D651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7244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A80"/>
                </a:solidFill>
                <a:latin typeface="Heiti TC"/>
                <a:ea typeface="Heiti TC"/>
                <a:cs typeface="Heiti TC"/>
              </a:defRPr>
            </a:pPr>
            <a:r>
              <a:rPr sz="1050" b="1">
                <a:solidFill>
                  <a:srgbClr val="168A80"/>
                </a:solidFill>
                <a:latin typeface="Heiti TC"/>
                <a:ea typeface="Heiti TC"/>
                <a:cs typeface="Heiti TC"/>
              </a:rPr>
              <a:t>05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C64B8FE-C285-43C7-99BF-EBAEFD3D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724400"/>
            <a:ext cx="27813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安全审查、Release Gate 与量产签核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B75E936-878A-4C19-8D2A-29FC211F6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229225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0008F83-20DE-49EA-A53D-0E6F737E4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3054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A80"/>
                </a:solidFill>
                <a:latin typeface="Heiti TC"/>
                <a:ea typeface="Heiti TC"/>
                <a:cs typeface="Heiti TC"/>
              </a:defRPr>
            </a:pPr>
            <a:r>
              <a:rPr sz="1050" b="1">
                <a:solidFill>
                  <a:srgbClr val="168A80"/>
                </a:solidFill>
                <a:latin typeface="Heiti TC"/>
                <a:ea typeface="Heiti TC"/>
                <a:cs typeface="Heiti TC"/>
              </a:rPr>
              <a:t>06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036675E-C402-48E3-B6CD-A0A3A291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305425"/>
            <a:ext cx="27813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重大问题升级、版本路线与变更控制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91797D4-E8B4-4399-8770-1F39C8CF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8102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B0B56AA-C7BD-4C11-91F7-2C7D352C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2679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F6F3"/>
          </a:solidFill>
          <a:ln xmlns:a="http://schemas.openxmlformats.org/drawingml/2006/main" w="9525">
            <a:solidFill>
              <a:srgbClr val="168A80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C1A7503-931F-4245-B256-97127209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3410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A80"/>
                </a:solidFill>
                <a:latin typeface="Heiti TC"/>
                <a:ea typeface="Heiti TC"/>
                <a:cs typeface="Heiti TC"/>
              </a:defRPr>
            </a:pPr>
            <a:r>
              <a:rPr sz="1200" b="1">
                <a:solidFill>
                  <a:srgbClr val="168A80"/>
                </a:solidFill>
                <a:latin typeface="Heiti TC"/>
                <a:ea typeface="Heiti TC"/>
                <a:cs typeface="Heiti TC"/>
              </a:rPr>
              <a:t>关键边界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204FBFE-8770-4810-8D2A-734E13FE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096000"/>
            <a:ext cx="866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200" b="1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硬件方确保 BSP 与硬件可用；软件方负责系统整合。Driver 缺陷依来源归责，双方共同复现并推动修复。</a:t>
            </a:r>
          </a:p>
        </p:txBody>
      </p:sp>
    </p:spTree>
    <p:extLst>
      <p:ext uri="{BB962C8B-B14F-4D97-AF65-F5344CB8AC3E}">
        <p14:creationId xmlns:p14="http://schemas.microsoft.com/office/powerpoint/2010/main" val="1415985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FC4592F-B0F7-4A27-A541-5678E977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8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A0102E-741E-4DEF-8332-1C8FF0F2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FEB7D8-B355-4B1E-BEB6-96A8B11A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2841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0E2841"/>
                </a:solidFill>
                <a:latin typeface="Heiti TC"/>
                <a:ea typeface="Heiti TC"/>
                <a:cs typeface="Heiti TC"/>
              </a:rPr>
              <a:t>P3　軟體廠商可能遇到的問題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7CF642-DF96-43F5-A758-605B60CA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58A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0758A"/>
                </a:solidFill>
                <a:latin typeface="Heiti TC"/>
                <a:ea typeface="Heiti TC"/>
                <a:cs typeface="Heiti TC"/>
              </a:rPr>
              <a:t>最大风险来自范围超过团队能力、关键输入不受软件方控制，以及量产后的长期责任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0CB0A0-B14F-45AE-95BD-76EC38DC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29400"/>
            <a:ext cx="666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58A"/>
                </a:solidFill>
                <a:latin typeface="Heiti TC"/>
                <a:ea typeface="Heiti TC"/>
                <a:cs typeface="Heiti TC"/>
              </a:defRPr>
            </a:pPr>
            <a:r>
              <a:rPr sz="750" b="0">
                <a:solidFill>
                  <a:srgbClr val="60758A"/>
                </a:solidFill>
                <a:latin typeface="Heiti TC"/>
                <a:ea typeface="Heiti TC"/>
                <a:cs typeface="Heiti TC"/>
              </a:rPr>
              <a:t>Gunter × Goldkey  NAS 硬體 × 軟體合作提案分析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B407C2-82EC-451C-92F2-FF8803E2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29400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0758A"/>
                </a:solidFill>
                <a:latin typeface="Heiti TC"/>
                <a:ea typeface="Heiti TC"/>
                <a:cs typeface="Heiti TC"/>
              </a:defRPr>
            </a:pPr>
            <a:r>
              <a:rPr sz="750" b="0">
                <a:solidFill>
                  <a:srgbClr val="60758A"/>
                </a:solidFill>
                <a:latin typeface="Heiti TC"/>
                <a:ea typeface="Heiti TC"/>
                <a:cs typeface="Heiti TC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35AFDD-6CE7-4A4A-A344-DD51B617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0200"/>
            <a:ext cx="55245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B94B4B"/>
          </a:solidFill>
          <a:ln xmlns:a="http://schemas.openxmlformats.org/drawingml/2006/main" w="9525">
            <a:solidFill>
              <a:srgbClr val="B94B4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AEE9D5-915E-4E9D-8CF7-17A25DB0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287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pPr>
            <a:r>
              <a:rPr sz="975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9E8A57-07F8-40A3-9823-91E9C71CF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8115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2841"/>
                </a:solidFill>
                <a:latin typeface="Heiti TC"/>
                <a:ea typeface="Heiti TC"/>
                <a:cs typeface="Heiti TC"/>
              </a:defRPr>
            </a:pPr>
            <a:r>
              <a:rPr sz="1275" b="1">
                <a:solidFill>
                  <a:srgbClr val="0E2841"/>
                </a:solidFill>
                <a:latin typeface="Heiti TC"/>
                <a:ea typeface="Heiti TC"/>
                <a:cs typeface="Heiti TC"/>
              </a:rPr>
              <a:t>範圍與人力不匹配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65C58A-5A4D-482D-8CEE-3C7E9FD6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8115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Linux、RAID、Cloud、Mobile、OTA 与资安同时推进，4 至 8 人团队容易延误或牺牲 QA。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68C072-3BD2-4533-BA7F-A613EDE7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47875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79045E-49BB-48A2-9177-0D444B95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62175"/>
            <a:ext cx="55245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B94B4B"/>
          </a:solidFill>
          <a:ln xmlns:a="http://schemas.openxmlformats.org/drawingml/2006/main" w="9525">
            <a:solidFill>
              <a:srgbClr val="B94B4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D86FB9-0513-4F0F-826B-0B902282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pPr>
            <a:r>
              <a:rPr sz="975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FF4D0F-1821-471C-AD04-B9CC647B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43125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2841"/>
                </a:solidFill>
                <a:latin typeface="Heiti TC"/>
                <a:ea typeface="Heiti TC"/>
                <a:cs typeface="Heiti TC"/>
              </a:defRPr>
            </a:pPr>
            <a:r>
              <a:rPr sz="1275" b="1">
                <a:solidFill>
                  <a:srgbClr val="0E2841"/>
                </a:solidFill>
                <a:latin typeface="Heiti TC"/>
                <a:ea typeface="Heiti TC"/>
                <a:cs typeface="Heiti TC"/>
              </a:rPr>
              <a:t>BSP／硬體交付不穩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594DFC-D5E7-4087-8BA3-754C634C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4312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主板变更、Driver 缺陷或 SoC 原厂修复缓慢，会直接阻塞软件开发，但时程压力仍落在软件方。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E73556-D1A0-4913-9DB3-A183D5C2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098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3134EF-3650-43EE-A400-12983BB40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55245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B94B4B"/>
          </a:solidFill>
          <a:ln xmlns:a="http://schemas.openxmlformats.org/drawingml/2006/main" w="9525">
            <a:solidFill>
              <a:srgbClr val="B94B4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C4386A-210A-4C71-ACF4-9EE907DD8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5272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pPr>
            <a:r>
              <a:rPr sz="975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32BF83-18FC-4C16-915F-4992B34E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051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2841"/>
                </a:solidFill>
                <a:latin typeface="Heiti TC"/>
                <a:ea typeface="Heiti TC"/>
                <a:cs typeface="Heiti TC"/>
              </a:defRPr>
            </a:pPr>
            <a:r>
              <a:rPr sz="1275" b="1">
                <a:solidFill>
                  <a:srgbClr val="0E2841"/>
                </a:solidFill>
                <a:latin typeface="Heiti TC"/>
                <a:ea typeface="Heiti TC"/>
                <a:cs typeface="Heiti TC"/>
              </a:rPr>
              <a:t>RAID 與資料損失責任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A4C7C4-A2CA-4232-A4B4-54768866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0510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断电、坏盘、Rebuild 或迁移异常可能造成资料损失、RMA、赔偿与品牌风险。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9040B0-9C34-4B11-95DF-685D19D1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71825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121855-4B2D-43AC-A4B2-5C4E17A0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86125"/>
            <a:ext cx="55245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B94B4B"/>
          </a:solidFill>
          <a:ln xmlns:a="http://schemas.openxmlformats.org/drawingml/2006/main" w="9525">
            <a:solidFill>
              <a:srgbClr val="B94B4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2EAADD-8DC9-4ED3-AF32-47606F01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147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pPr>
            <a:r>
              <a:rPr sz="975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FA8260-73BD-4779-BA35-46572C46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67075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2841"/>
                </a:solidFill>
                <a:latin typeface="Heiti TC"/>
                <a:ea typeface="Heiti TC"/>
                <a:cs typeface="Heiti TC"/>
              </a:defRPr>
            </a:pPr>
            <a:r>
              <a:rPr sz="1275" b="1">
                <a:solidFill>
                  <a:srgbClr val="0E2841"/>
                </a:solidFill>
                <a:latin typeface="Heiti TC"/>
                <a:ea typeface="Heiti TC"/>
                <a:cs typeface="Heiti TC"/>
              </a:rPr>
              <a:t>相容性組合快速膨脹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5B3DFD-2A4A-4E4A-A9A3-9E0A9F9B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6707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2／4 Bay、Intel／ARM、不同 HDD／NVMe、网络与周边组合会显著增加回归测试。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87C426-4BDB-4BD0-ACA8-05069586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338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262FCC-C3EE-4623-861F-4AB041CB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48100"/>
            <a:ext cx="55245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B46A08"/>
          </a:solidFill>
          <a:ln xmlns:a="http://schemas.openxmlformats.org/drawingml/2006/main" w="9525">
            <a:solidFill>
              <a:srgbClr val="B46A0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F30C98-AE8D-4DAB-AE8C-1B6DBF305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76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pPr>
            <a:r>
              <a:rPr sz="975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中高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4880EF-93AC-472F-BF1E-6382B3F0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2905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2841"/>
                </a:solidFill>
                <a:latin typeface="Heiti TC"/>
                <a:ea typeface="Heiti TC"/>
                <a:cs typeface="Heiti TC"/>
              </a:defRPr>
            </a:pPr>
            <a:r>
              <a:rPr sz="1275" b="1">
                <a:solidFill>
                  <a:srgbClr val="0E2841"/>
                </a:solidFill>
                <a:latin typeface="Heiti TC"/>
                <a:ea typeface="Heiti TC"/>
                <a:cs typeface="Heiti TC"/>
              </a:rPr>
              <a:t>Cloud 長期營運成本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613FDB-3A85-4D38-99EA-5E92848E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2905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远端存取、Relay、帐号与 Multi-NAS 需要 24×7 服务、监控、隐私与事件响应。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C42C53-155F-4F66-82F9-A629A2A1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95775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8906DF-0EE2-4D75-A55A-0301F21B0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0075"/>
            <a:ext cx="55245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B46A08"/>
          </a:solidFill>
          <a:ln xmlns:a="http://schemas.openxmlformats.org/drawingml/2006/main" w="9525">
            <a:solidFill>
              <a:srgbClr val="B46A08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E4610B-B3BB-465B-8032-17D0AF3A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386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pPr>
            <a:r>
              <a:rPr sz="975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中高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972FA3-517C-49B6-9B04-2FC7EC6A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91025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2841"/>
                </a:solidFill>
                <a:latin typeface="Heiti TC"/>
                <a:ea typeface="Heiti TC"/>
                <a:cs typeface="Heiti TC"/>
              </a:defRPr>
            </a:pPr>
            <a:r>
              <a:rPr sz="1275" b="1">
                <a:solidFill>
                  <a:srgbClr val="0E2841"/>
                </a:solidFill>
                <a:latin typeface="Heiti TC"/>
                <a:ea typeface="Heiti TC"/>
                <a:cs typeface="Heiti TC"/>
              </a:rPr>
              <a:t>OTA 與 CVE 長期維護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D75581-EC27-4B2A-B4CB-804CF725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9102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产品销售多年后仍需维护 Kernel、第三方套件、签章、Rollback 与紧急安全修补。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C3F5C4A-16CF-451F-8F72-1AC0C664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57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5419FE-3C17-4933-92C4-260D60D4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72050"/>
            <a:ext cx="55245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B46A08"/>
          </a:solidFill>
          <a:ln xmlns:a="http://schemas.openxmlformats.org/drawingml/2006/main" w="9525">
            <a:solidFill>
              <a:srgbClr val="B46A08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16293C9-B4F3-4984-9125-8D3EB777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0062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pPr>
            <a:r>
              <a:rPr sz="975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中高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05A0304-8983-4C67-8B97-78C2C718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530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2841"/>
                </a:solidFill>
                <a:latin typeface="Heiti TC"/>
                <a:ea typeface="Heiti TC"/>
                <a:cs typeface="Heiti TC"/>
              </a:defRPr>
            </a:pPr>
            <a:r>
              <a:rPr sz="1275" b="1">
                <a:solidFill>
                  <a:srgbClr val="0E2841"/>
                </a:solidFill>
                <a:latin typeface="Heiti TC"/>
                <a:ea typeface="Heiti TC"/>
                <a:cs typeface="Heiti TC"/>
              </a:rPr>
              <a:t>需求蔓延與反覆修改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5551679-86A3-4E9C-8E55-FEE0871E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5300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范围未冻结时容易出现持续加功能、重复验证、固定总价亏损与交付争议。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6E648C1-5072-4870-89D6-73652CC8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9725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85E493A-EB73-4786-999C-4CA16228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34025"/>
            <a:ext cx="55245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168A80"/>
          </a:solidFill>
          <a:ln xmlns:a="http://schemas.openxmlformats.org/drawingml/2006/main" w="9525">
            <a:solidFill>
              <a:srgbClr val="168A80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5AF36A4-84CD-43C2-A2B9-E1FB97D3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626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pPr>
            <a:r>
              <a:rPr sz="975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中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A906131-FB03-46F8-8695-C8A92DFD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14975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2841"/>
                </a:solidFill>
                <a:latin typeface="Heiti TC"/>
                <a:ea typeface="Heiti TC"/>
                <a:cs typeface="Heiti TC"/>
              </a:defRPr>
            </a:pPr>
            <a:r>
              <a:rPr sz="1275" b="1">
                <a:solidFill>
                  <a:srgbClr val="0E2841"/>
                </a:solidFill>
                <a:latin typeface="Heiti TC"/>
                <a:ea typeface="Heiti TC"/>
                <a:cs typeface="Heiti TC"/>
              </a:rPr>
              <a:t>消费者客服与现场诊断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00E9015-62F7-4101-AAB1-85529A6E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51497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非技术用户的问题难以重现，需要遥测、Log 导出、恢复流程及明确的一二线客服分工。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5E6CB16-D64D-44C8-BAD5-93E18B8E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BC3F0FD-C0A4-4B12-BB27-41CACC09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192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78B5"/>
                </a:solidFill>
                <a:latin typeface="Heiti TC"/>
                <a:ea typeface="Heiti TC"/>
                <a:cs typeface="Heiti TC"/>
              </a:defRPr>
            </a:pPr>
            <a:r>
              <a:rPr sz="1500" b="1">
                <a:solidFill>
                  <a:srgbClr val="1C78B5"/>
                </a:solidFill>
                <a:latin typeface="Heiti TC"/>
                <a:ea typeface="Heiti TC"/>
                <a:cs typeface="Heiti TC"/>
              </a:rPr>
              <a:t>原提案已有四个 Demo 阶段</a:t>
            </a:r>
          </a:p>
        </p:txBody>
      </p:sp>
      <p:pic>
        <p:nvPicPr>
          <p:cNvPr id="1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ac1f750b8e4896"/>
          <a:stretch xmlns:a="http://schemas.openxmlformats.org/drawingml/2006/main"/>
        </p:blipFill>
        <p:spPr>
          <a:xfrm xmlns:a="http://schemas.openxmlformats.org/drawingml/2006/main">
            <a:off x="8496300" y="2012156"/>
            <a:ext cx="3124200" cy="1757363"/>
          </a:xfrm>
          <a:prstGeom xmlns:a="http://schemas.openxmlformats.org/drawingml/2006/main" prst="rect">
            <a:avLst/>
          </a:prstGeom>
        </p:spPr>
      </p:pic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D439553-A142-4CB4-8BBC-4687C664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05250"/>
            <a:ext cx="295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但缺少日期、量化通过标准、负责人、输入条件及失败后的变更机制。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1ADB293-76B3-4967-B64A-52BC47F09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838700"/>
            <a:ext cx="31242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 w="9525">
            <a:solidFill>
              <a:srgbClr val="B46A08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9E25C0C-43DD-40B9-B78E-1FA30CF6E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0101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6A08"/>
                </a:solidFill>
                <a:latin typeface="Heiti TC"/>
                <a:ea typeface="Heiti TC"/>
                <a:cs typeface="Heiti TC"/>
              </a:defRPr>
            </a:pPr>
            <a:r>
              <a:rPr sz="1350" b="1">
                <a:solidFill>
                  <a:srgbClr val="B46A08"/>
                </a:solidFill>
                <a:latin typeface="Heiti TC"/>
                <a:ea typeface="Heiti TC"/>
                <a:cs typeface="Heiti TC"/>
              </a:rPr>
              <a:t>软件厂商的签约前条件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4F46C18-0560-479C-B4B7-4C352D8D8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391150"/>
            <a:ext cx="270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冻结 Scope 与硬件 Baseline</a:t>
            </a:r>
          </a:p>
          <a:p xmlns:a="http://schemas.openxmlformats.org/drawingml/2006/main">
            <a:pPr algn="l">
              <a:defRPr sz="1125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定义量化验收与变更计价</a:t>
            </a:r>
          </a:p>
          <a:p xmlns:a="http://schemas.openxmlformats.org/drawingml/2006/main">
            <a:pPr algn="l">
              <a:defRPr sz="1125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限定保固、维护年限与 SLA</a:t>
            </a:r>
          </a:p>
          <a:p xmlns:a="http://schemas.openxmlformats.org/drawingml/2006/main">
            <a:pPr algn="l">
              <a:defRPr sz="1125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将 Cloud OPEX 与资料责任写入合同</a:t>
            </a:r>
          </a:p>
        </p:txBody>
      </p:sp>
    </p:spTree>
    <p:extLst>
      <p:ext uri="{BB962C8B-B14F-4D97-AF65-F5344CB8AC3E}">
        <p14:creationId xmlns:p14="http://schemas.microsoft.com/office/powerpoint/2010/main" val="14014654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667220-243B-4B8F-B96C-25ED5F4A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8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839F46-D1D1-4138-B89E-7E762255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1A17A8-32D5-4D0A-9158-E4A35F97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2841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0E2841"/>
                </a:solidFill>
                <a:latin typeface="Heiti TC"/>
                <a:ea typeface="Heiti TC"/>
                <a:cs typeface="Heiti TC"/>
              </a:rPr>
              <a:t>P4　RAID 是 OS 預設就有的嗎？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E1998E-623F-44C2-9960-DBB0CE8B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58A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0758A"/>
                </a:solidFill>
                <a:latin typeface="Heiti TC"/>
                <a:ea typeface="Heiti TC"/>
                <a:cs typeface="Heiti TC"/>
              </a:rPr>
              <a:t>Linux 提供 RAID 的底層能力，但不會自動成為可量產、可維護的 NAS RAID 功能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40C67B-7E31-45EB-9F48-D4E9CD67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29400"/>
            <a:ext cx="666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58A"/>
                </a:solidFill>
                <a:latin typeface="Heiti TC"/>
                <a:ea typeface="Heiti TC"/>
                <a:cs typeface="Heiti TC"/>
              </a:defRPr>
            </a:pPr>
            <a:r>
              <a:rPr sz="750" b="0">
                <a:solidFill>
                  <a:srgbClr val="60758A"/>
                </a:solidFill>
                <a:latin typeface="Heiti TC"/>
                <a:ea typeface="Heiti TC"/>
                <a:cs typeface="Heiti TC"/>
              </a:rPr>
              <a:t>Gunter × Goldkey  NAS 硬體 × 軟體合作提案分析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017219-E844-4D05-982A-D0F0F922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29400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0758A"/>
                </a:solidFill>
                <a:latin typeface="Heiti TC"/>
                <a:ea typeface="Heiti TC"/>
                <a:cs typeface="Heiti TC"/>
              </a:defRPr>
            </a:pPr>
            <a:r>
              <a:rPr sz="750" b="0">
                <a:solidFill>
                  <a:srgbClr val="60758A"/>
                </a:solidFill>
                <a:latin typeface="Heiti TC"/>
                <a:ea typeface="Heiti TC"/>
                <a:cs typeface="Heiti TC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1098C7-2F96-496C-99F3-5F70D35C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6FD"/>
          </a:solidFill>
          <a:ln xmlns:a="http://schemas.openxmlformats.org/drawingml/2006/main" w="9525">
            <a:solidFill>
              <a:srgbClr val="1C78B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78180F-B6E9-4CE1-8F09-39E54F65E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24025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C78B5"/>
                </a:solidFill>
                <a:latin typeface="Heiti TC"/>
                <a:ea typeface="Heiti TC"/>
                <a:cs typeface="Heiti TC"/>
              </a:defRPr>
            </a:pPr>
            <a:r>
              <a:rPr sz="1350" b="1">
                <a:solidFill>
                  <a:srgbClr val="1C78B5"/>
                </a:solidFill>
                <a:latin typeface="Heiti TC"/>
                <a:ea typeface="Heiti TC"/>
                <a:cs typeface="Heiti TC"/>
              </a:rPr>
              <a:t>結論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369DC6-3CDE-40CD-9163-EF60B279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85925"/>
            <a:ext cx="960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E2841"/>
                </a:solidFill>
                <a:latin typeface="Heiti TC"/>
                <a:ea typeface="Heiti TC"/>
                <a:cs typeface="Heiti TC"/>
              </a:defRPr>
            </a:pPr>
            <a:r>
              <a:rPr sz="1425" b="1">
                <a:solidFill>
                  <a:srgbClr val="0E2841"/>
                </a:solidFill>
                <a:latin typeface="Heiti TC"/>
                <a:ea typeface="Heiti TC"/>
                <a:cs typeface="Heiti TC"/>
              </a:rPr>
              <a:t>Kernel 可能已含 Software RAID 驅動；管理工具、UI、恢復流程、監控、告警與完整驗證仍需開發。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A7FB12-8AEA-4196-B9E2-AAACBCF4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14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84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888EFA-560F-4230-A85E-6F399CD5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E2841"/>
                </a:solidFill>
                <a:latin typeface="Heiti TC"/>
                <a:ea typeface="Heiti TC"/>
                <a:cs typeface="Heiti TC"/>
              </a:defRPr>
            </a:pPr>
            <a:r>
              <a:rPr sz="1425" b="1">
                <a:solidFill>
                  <a:srgbClr val="0E2841"/>
                </a:solidFill>
                <a:latin typeface="Heiti TC"/>
                <a:ea typeface="Heiti TC"/>
                <a:cs typeface="Heiti TC"/>
              </a:rPr>
              <a:t>OS／Linux Kernel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88A89E-0207-4A8D-A682-06115837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9082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58A"/>
                </a:solidFill>
                <a:latin typeface="Heiti TC"/>
                <a:ea typeface="Heiti TC"/>
                <a:cs typeface="Heiti TC"/>
              </a:defRPr>
            </a:pPr>
            <a:r>
              <a:rPr sz="900" b="0">
                <a:solidFill>
                  <a:srgbClr val="60758A"/>
                </a:solidFill>
                <a:latin typeface="Heiti TC"/>
                <a:ea typeface="Heiti TC"/>
                <a:cs typeface="Heiti TC"/>
              </a:rPr>
              <a:t>底层能力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1F595A-C86E-453D-B5C9-DC63F82D9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524125"/>
            <a:ext cx="788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42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提供 MD Software RAID、Block Device、Filesystem Driver 等底層机制；不会自动建立阵列或提供 NAS 操作界面。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FB3DE2-5469-4E1C-A96D-30C7D1196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14675"/>
            <a:ext cx="1045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6AA380-98FD-446E-8AD9-70D68D09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14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8B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AAA82B-F3E1-49FA-8C76-59C98193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956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C78B5"/>
                </a:solidFill>
                <a:latin typeface="Heiti TC"/>
                <a:ea typeface="Heiti TC"/>
                <a:cs typeface="Heiti TC"/>
              </a:defRPr>
            </a:pPr>
            <a:r>
              <a:rPr sz="1425" b="1">
                <a:solidFill>
                  <a:srgbClr val="1C78B5"/>
                </a:solidFill>
                <a:latin typeface="Heiti TC"/>
                <a:ea typeface="Heiti TC"/>
                <a:cs typeface="Heiti TC"/>
              </a:rPr>
              <a:t>管理工具與檔案系統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B18F0A-E0E9-4F0C-B99F-63753156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718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58A"/>
                </a:solidFill>
                <a:latin typeface="Heiti TC"/>
                <a:ea typeface="Heiti TC"/>
                <a:cs typeface="Heiti TC"/>
              </a:defRPr>
            </a:pPr>
            <a:r>
              <a:rPr sz="900" b="0">
                <a:solidFill>
                  <a:srgbClr val="60758A"/>
                </a:solidFill>
                <a:latin typeface="Heiti TC"/>
                <a:ea typeface="Heiti TC"/>
                <a:cs typeface="Heiti TC"/>
              </a:rPr>
              <a:t>需要安装／整合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8D2C00-6C53-4FAF-9BAC-23597233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305175"/>
            <a:ext cx="788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mdadm 管理 Linux MD RAID；Btrfs 需要 btrfs-progs；ZFS 需要 OpenZFS。工具通常要另外安装与整合。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03198E-EDCD-4006-B4F3-D59CD453A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95725"/>
            <a:ext cx="1045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AC998A-18B7-4E98-9D32-F1F89752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14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8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B38BE0-D985-4F98-9CED-A44A774F3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767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8A80"/>
                </a:solidFill>
                <a:latin typeface="Heiti TC"/>
                <a:ea typeface="Heiti TC"/>
                <a:cs typeface="Heiti TC"/>
              </a:defRPr>
            </a:pPr>
            <a:r>
              <a:rPr sz="1425" b="1">
                <a:solidFill>
                  <a:srgbClr val="168A80"/>
                </a:solidFill>
                <a:latin typeface="Heiti TC"/>
                <a:ea typeface="Heiti TC"/>
                <a:cs typeface="Heiti TC"/>
              </a:rPr>
              <a:t>硬體方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76D0EC-409F-49A7-8647-0C0D57CA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5292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58A"/>
                </a:solidFill>
                <a:latin typeface="Heiti TC"/>
                <a:ea typeface="Heiti TC"/>
                <a:cs typeface="Heiti TC"/>
              </a:defRPr>
            </a:pPr>
            <a:r>
              <a:rPr sz="900" b="0">
                <a:solidFill>
                  <a:srgbClr val="60758A"/>
                </a:solidFill>
                <a:latin typeface="Heiti TC"/>
                <a:ea typeface="Heiti TC"/>
                <a:cs typeface="Heiti TC"/>
              </a:rPr>
              <a:t>硬件可用性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C17E30-0EF0-40A8-9FF7-40778B0C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086225"/>
            <a:ext cx="788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确保 SATA／NVMe、电源、热插拔、LED、风扇、控制器及 Driver 能正确支援拔盘、换盘与断电情境。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9A06ED-6B69-4148-AE07-8A2BFF96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76775"/>
            <a:ext cx="1045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FA8018-589D-4094-9EE3-748A0316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14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08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9378B9-2218-432E-B7A1-43D46CED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57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46A08"/>
                </a:solidFill>
                <a:latin typeface="Heiti TC"/>
                <a:ea typeface="Heiti TC"/>
                <a:cs typeface="Heiti TC"/>
              </a:defRPr>
            </a:pPr>
            <a:r>
              <a:rPr sz="1425" b="1">
                <a:solidFill>
                  <a:srgbClr val="B46A08"/>
                </a:solidFill>
                <a:latin typeface="Heiti TC"/>
                <a:ea typeface="Heiti TC"/>
                <a:cs typeface="Heiti TC"/>
              </a:rPr>
              <a:t>軟體廠商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3ACD09-5AFA-4F43-85A2-EF47A2EB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339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58A"/>
                </a:solidFill>
                <a:latin typeface="Heiti TC"/>
                <a:ea typeface="Heiti TC"/>
                <a:cs typeface="Heiti TC"/>
              </a:defRPr>
            </a:pPr>
            <a:r>
              <a:rPr sz="900" b="0">
                <a:solidFill>
                  <a:srgbClr val="60758A"/>
                </a:solidFill>
                <a:latin typeface="Heiti TC"/>
                <a:ea typeface="Heiti TC"/>
                <a:cs typeface="Heiti TC"/>
              </a:rPr>
              <a:t>NAS 产品化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A22332-5E27-4E4E-9FE0-84A6D023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867275"/>
            <a:ext cx="788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266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开发 RAID 建立／删除 UI、Degraded／Rebuild、SMART、自动组装、挂载、扩容、Snapshot、告警、恢复、Log 与 RMA。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561944-B110-446D-B912-5A0EAA70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57825"/>
            <a:ext cx="1045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FE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A92A55-243A-4319-8D80-A7EC1476A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9F6F3"/>
          </a:solidFill>
          <a:ln xmlns:a="http://schemas.openxmlformats.org/drawingml/2006/main" w="9525">
            <a:solidFill>
              <a:srgbClr val="168A80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562659-F87A-4BD9-8CDE-FB8DFA90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53125"/>
            <a:ext cx="1219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A80"/>
                </a:solidFill>
                <a:latin typeface="Heiti TC"/>
                <a:ea typeface="Heiti TC"/>
                <a:cs typeface="Heiti TC"/>
              </a:defRPr>
            </a:pPr>
            <a:r>
              <a:rPr sz="1275" b="1">
                <a:solidFill>
                  <a:srgbClr val="168A80"/>
                </a:solidFill>
                <a:latin typeface="Heiti TC"/>
                <a:ea typeface="Heiti TC"/>
                <a:cs typeface="Heiti TC"/>
              </a:rPr>
              <a:t>共同驗證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339073-2FF2-4573-A808-6BB8D572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915025"/>
            <a:ext cx="923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24A"/>
                </a:solidFill>
                <a:latin typeface="Heiti TC"/>
                <a:ea typeface="Heiti TC"/>
                <a:cs typeface="Heiti TC"/>
              </a:defRPr>
            </a:pPr>
            <a:r>
              <a:rPr sz="1275" b="1">
                <a:solidFill>
                  <a:srgbClr val="17324A"/>
                </a:solidFill>
                <a:latin typeface="Heiti TC"/>
                <a:ea typeface="Heiti TC"/>
                <a:cs typeface="Heiti TC"/>
              </a:rPr>
              <a:t>拔盘、换盘、Rebuild、断电恢复、长期稳定性、硬碟相容性与资料完整性必须由双方共同签核。</a:t>
            </a:r>
          </a:p>
        </p:txBody>
      </p:sp>
    </p:spTree>
    <p:extLst>
      <p:ext uri="{BB962C8B-B14F-4D97-AF65-F5344CB8AC3E}">
        <p14:creationId xmlns:p14="http://schemas.microsoft.com/office/powerpoint/2010/main" val="10141411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2026-10-01T03:22:17.5050000Z</dcterms:created>
  <dcterms:modified xsi:type="dcterms:W3CDTF">2026-10-01T03:22:17.5050000Z</dcterms:modified>
</coreProperties>
</file>